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20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4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56032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 hoy?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proyecto de automatización de pruebas — Post Venta Komands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05256"/>
            <a:ext cx="8631936" cy="0"/>
          </a:xfrm>
          <a:prstGeom prst="line">
            <a:avLst/>
          </a:prstGeom>
          <a:noFill/>
          <a:ln w="762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14800" cy="3566160"/>
          </a:xfrm>
          <a:prstGeom prst="rect">
            <a:avLst/>
          </a:prstGeom>
          <a:solidFill>
            <a:srgbClr val="1A2E4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56032" y="1234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256032" y="2267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listas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2542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131 planificadas en el plan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3621024" cy="256032"/>
          </a:xfrm>
          <a:prstGeom prst="rect">
            <a:avLst/>
          </a:prstGeom>
          <a:solidFill>
            <a:srgbClr val="0B1F30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16128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02920" y="314553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completado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401568"/>
            <a:ext cx="2468880" cy="402336"/>
          </a:xfrm>
          <a:prstGeom prst="roundRect">
            <a:avLst>
              <a:gd name="adj" fmla="val 18182"/>
            </a:avLst>
          </a:prstGeom>
          <a:solidFill>
            <a:srgbClr val="22C55E">
              <a:alpha val="20000"/>
            </a:srgbClr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22960" y="340156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de las pruebas pasaron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errores  ·  0 fallos  ·  414ms duración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4059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Reporte: pytest-html  ·  04-Jun-2026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1078992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completados: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08176"/>
            <a:ext cx="4224528" cy="1078992"/>
          </a:xfrm>
          <a:prstGeom prst="rect">
            <a:avLst/>
          </a:prstGeom>
          <a:solidFill>
            <a:srgbClr val="1A2E42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663440" y="1408176"/>
            <a:ext cx="4224528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736592" y="144475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de Acceso  —  15 pruebas 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682496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test_deactivation.py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73168" y="1847088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operaciones exitosas (DTV, ClaroVTR, TCH, Huawei)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73168" y="2002536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pruebas de seguridad (token inválido, expirado, etc.)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73168" y="2157984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pruebas de roles (Administrador, Operador, Visualizador)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73168" y="2313432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 pruebas de formato de respuesta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4224528" cy="1078992"/>
          </a:xfrm>
          <a:prstGeom prst="rect">
            <a:avLst/>
          </a:prstGeom>
          <a:solidFill>
            <a:srgbClr val="1A2E42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4224528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736592" y="25968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 —  6 pruebas  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2834640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test_queries.py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73168" y="2999232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Consulta de acceso activo → respuesta correcta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3168" y="315468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Campos obligatorios en respuesta verificados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3168" y="3310128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Consulta a acceso/transacción inexistente → error correcto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3712464"/>
            <a:ext cx="4224528" cy="1078992"/>
          </a:xfrm>
          <a:prstGeom prst="rect">
            <a:avLst/>
          </a:prstGeom>
          <a:solidFill>
            <a:srgbClr val="1A2E42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4663440" y="3712464"/>
            <a:ext cx="4224528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736592" y="374904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Equipo (ONT)  —  15 pruebas  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36592" y="3986784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test_device_modification.py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73168" y="4151376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operaciones exitosas en distintos clientes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73168" y="4306824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pruebas de seguridad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3168" y="4462272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pruebas de roles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73168" y="461772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 pruebas de formato de respuesta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4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56032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funcionan estas pruebas?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simple de la estrategia de automatización con simulaciones (mocks)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05256"/>
            <a:ext cx="8631936" cy="0"/>
          </a:xfrm>
          <a:prstGeom prst="line">
            <a:avLst/>
          </a:prstGeom>
          <a:noFill/>
          <a:ln w="762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56032" y="1078992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no tenemos acceso a los servidores reales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" y="1408176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bases de datos, equipos de red (OLTs) ni ambientes de prueba reales, no podemos ejecutar pruebas completas de extremo a extremo.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828800"/>
            <a:ext cx="3931920" cy="2907792"/>
          </a:xfrm>
          <a:prstGeom prst="rect">
            <a:avLst/>
          </a:prstGeom>
          <a:solidFill>
            <a:srgbClr val="1A2E4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56032" y="1828800"/>
            <a:ext cx="3931920" cy="329184"/>
          </a:xfrm>
          <a:prstGeom prst="rect">
            <a:avLst/>
          </a:prstGeom>
          <a:solidFill>
            <a:srgbClr val="EF4444">
              <a:alpha val="30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29184" y="184708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Prueba REAL  (no disponible)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" y="2231136"/>
            <a:ext cx="3767328" cy="347472"/>
          </a:xfrm>
          <a:prstGeom prst="rect">
            <a:avLst/>
          </a:prstGeom>
          <a:solidFill>
            <a:srgbClr val="1A1A2E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02336" y="22494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La prueba llama a la API real de Komands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" y="2651760"/>
            <a:ext cx="3767328" cy="347472"/>
          </a:xfrm>
          <a:prstGeom prst="rect">
            <a:avLst/>
          </a:prstGeom>
          <a:solidFill>
            <a:srgbClr val="1A0A0A"/>
          </a:solidFill>
          <a:ln w="38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02336" y="267004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Komands se conecta al equipo de red real (OLT Nokia/Huawei)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81635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Necesita acceso al entorno real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9184" y="3072384"/>
            <a:ext cx="3767328" cy="347472"/>
          </a:xfrm>
          <a:prstGeom prst="rect">
            <a:avLst/>
          </a:prstGeom>
          <a:solidFill>
            <a:srgbClr val="1A0A0A"/>
          </a:solidFill>
          <a:ln w="38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02336" y="309067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El equipo ejecuta el comando y responde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" y="3236976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Necesita acceso al entorno real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" y="3493008"/>
            <a:ext cx="3767328" cy="347472"/>
          </a:xfrm>
          <a:prstGeom prst="rect">
            <a:avLst/>
          </a:prstGeom>
          <a:solidFill>
            <a:srgbClr val="1A0A0A"/>
          </a:solidFill>
          <a:ln w="38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02336" y="351129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Se verifica que la configuración cambió en el equipo real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" y="365760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Necesita acceso al entorno real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9184" y="3913632"/>
            <a:ext cx="3767328" cy="347472"/>
          </a:xfrm>
          <a:prstGeom prst="rect">
            <a:avLst/>
          </a:prstGeom>
          <a:solidFill>
            <a:srgbClr val="1A0A0A"/>
          </a:solidFill>
          <a:ln w="381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02336" y="393192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Se confirma que ServiceNow recibió la notificación real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" y="407822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Necesita acceso al entorno real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663440" y="1828800"/>
            <a:ext cx="4224528" cy="2907792"/>
          </a:xfrm>
          <a:prstGeom prst="rect">
            <a:avLst/>
          </a:prstGeom>
          <a:solidFill>
            <a:srgbClr val="1A2E4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663440" y="1828800"/>
            <a:ext cx="4224528" cy="329184"/>
          </a:xfrm>
          <a:prstGeom prst="rect">
            <a:avLst/>
          </a:prstGeom>
          <a:solidFill>
            <a:srgbClr val="22C55E">
              <a:alpha val="30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736592" y="1847088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Prueba con SIMULACIÓN  (disponible ahora)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231136"/>
            <a:ext cx="4059936" cy="347472"/>
          </a:xfrm>
          <a:prstGeom prst="rect">
            <a:avLst/>
          </a:prstGeom>
          <a:solidFill>
            <a:srgbClr val="0E2818"/>
          </a:solidFill>
          <a:ln w="38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809744" y="224942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prueba llama a la API real de Komands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2651760"/>
            <a:ext cx="4059936" cy="347472"/>
          </a:xfrm>
          <a:prstGeom prst="rect">
            <a:avLst/>
          </a:prstGeom>
          <a:solidFill>
            <a:srgbClr val="0E2818"/>
          </a:solidFill>
          <a:ln w="38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809744" y="2670048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simulador reemplaza al equipo de red — responde igual que el real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3072384"/>
            <a:ext cx="4059936" cy="347472"/>
          </a:xfrm>
          <a:prstGeom prst="rect">
            <a:avLst/>
          </a:prstGeom>
          <a:solidFill>
            <a:srgbClr val="0E2818"/>
          </a:solidFill>
          <a:ln w="38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809744" y="3090672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verifica que la respuesta tiene el formato y códigos correctos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3493008"/>
            <a:ext cx="4059936" cy="347472"/>
          </a:xfrm>
          <a:prstGeom prst="rect">
            <a:avLst/>
          </a:prstGeom>
          <a:solidFill>
            <a:srgbClr val="0E2818"/>
          </a:solidFill>
          <a:ln w="38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809744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verifica la lógica: errores, seguridad, reintentos, rollback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3913632"/>
            <a:ext cx="4059936" cy="347472"/>
          </a:xfrm>
          <a:prstGeom prst="rect">
            <a:avLst/>
          </a:prstGeom>
          <a:solidFill>
            <a:srgbClr val="0E2818"/>
          </a:solidFill>
          <a:ln w="381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4809744" y="3931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sin necesitar servidores, OLTs ni bases de datos reales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97680" y="3017520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4270248" y="301752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4809744"/>
            <a:ext cx="8631936" cy="256032"/>
          </a:xfrm>
          <a:prstGeom prst="rect">
            <a:avLst/>
          </a:prstGeom>
          <a:solidFill>
            <a:srgbClr val="0B1A28"/>
          </a:solidFill>
          <a:ln w="50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329184" y="4809744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Las simulaciones verifican que el COMPORTAMIENTO del sistema es correcto. La verificación en equipos reales se hace en una etapa posterior con acceso al ambiente de QA.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4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56032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completo de pruebas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escenarios planificados · Organizados por etapa · Qué falta y cuándo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05256"/>
            <a:ext cx="8631936" cy="0"/>
          </a:xfrm>
          <a:prstGeom prst="line">
            <a:avLst/>
          </a:prstGeom>
          <a:noFill/>
          <a:ln w="7620">
            <a:solidFill>
              <a:srgbClr val="0EA5E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2468880" cy="329184"/>
          </a:xfrm>
          <a:prstGeom prst="rect">
            <a:avLst/>
          </a:prstGeom>
          <a:solidFill>
            <a:srgbClr val="22C55E">
              <a:alpha val="22000"/>
            </a:srgbClr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237744" y="10241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 HECHO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" y="1188720"/>
            <a:ext cx="2359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actual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880360" y="1024128"/>
            <a:ext cx="4389120" cy="329184"/>
          </a:xfrm>
          <a:prstGeom prst="rect">
            <a:avLst/>
          </a:prstGeom>
          <a:solidFill>
            <a:srgbClr val="0EA5E9">
              <a:alpha val="22000"/>
            </a:srgbClr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935224" y="1024128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CON SIMULACIONES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35224" y="1188720"/>
            <a:ext cx="4279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 al 5 — Sin acceso a entornos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79792" y="1024128"/>
            <a:ext cx="1554480" cy="329184"/>
          </a:xfrm>
          <a:prstGeom prst="rect">
            <a:avLst/>
          </a:prstGeom>
          <a:solidFill>
            <a:srgbClr val="4B6070">
              <a:alpha val="22000"/>
            </a:srgbClr>
          </a:solidFill>
          <a:ln w="1016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534656" y="102412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BLOQUEADO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34656" y="1188720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ambiente real / OLT / BD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2880" y="1435608"/>
            <a:ext cx="2468880" cy="676656"/>
          </a:xfrm>
          <a:prstGeom prst="rect">
            <a:avLst/>
          </a:prstGeom>
          <a:solidFill>
            <a:srgbClr val="0E2818"/>
          </a:solidFill>
          <a:ln w="762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56032" y="1481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" y="14813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de Acceso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" y="169164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path, Seguridad, Roles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874520"/>
            <a:ext cx="2194560" cy="109728"/>
          </a:xfrm>
          <a:prstGeom prst="rect">
            <a:avLst/>
          </a:prstGeom>
          <a:solidFill>
            <a:srgbClr val="0B1F30"/>
          </a:solidFill>
          <a:ln w="254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256032" y="1874520"/>
            <a:ext cx="21945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56032" y="200253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pruebas listas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82880" y="2185416"/>
            <a:ext cx="2468880" cy="676656"/>
          </a:xfrm>
          <a:prstGeom prst="rect">
            <a:avLst/>
          </a:prstGeom>
          <a:solidFill>
            <a:srgbClr val="0E2818"/>
          </a:solidFill>
          <a:ln w="762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56032" y="22311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86384" y="22311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244144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síncronas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2624328"/>
            <a:ext cx="2194560" cy="109728"/>
          </a:xfrm>
          <a:prstGeom prst="rect">
            <a:avLst/>
          </a:prstGeom>
          <a:solidFill>
            <a:srgbClr val="0B1F30"/>
          </a:solidFill>
          <a:ln w="254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56032" y="2624328"/>
            <a:ext cx="21945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56032" y="2752344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pruebas listas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82880" y="2935224"/>
            <a:ext cx="2468880" cy="676656"/>
          </a:xfrm>
          <a:prstGeom prst="rect">
            <a:avLst/>
          </a:prstGeom>
          <a:solidFill>
            <a:srgbClr val="0E2818"/>
          </a:solidFill>
          <a:ln w="762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56032" y="29809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6384" y="298094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Equipo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6032" y="3191256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ONT, Seguridad, Roles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3374136"/>
            <a:ext cx="2194560" cy="109728"/>
          </a:xfrm>
          <a:prstGeom prst="rect">
            <a:avLst/>
          </a:prstGeom>
          <a:solidFill>
            <a:srgbClr val="0B1F30"/>
          </a:solidFill>
          <a:ln w="254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256032" y="3374136"/>
            <a:ext cx="21945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256032" y="350215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pruebas listas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3685032"/>
            <a:ext cx="2468880" cy="676656"/>
          </a:xfrm>
          <a:prstGeom prst="rect">
            <a:avLst/>
          </a:prstGeom>
          <a:solidFill>
            <a:srgbClr val="0E2818"/>
          </a:solidFill>
          <a:ln w="762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256032" y="37307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6384" y="373075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032" y="394106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por cliente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56032" y="4123944"/>
            <a:ext cx="2194560" cy="109728"/>
          </a:xfrm>
          <a:prstGeom prst="rect">
            <a:avLst/>
          </a:prstGeom>
          <a:solidFill>
            <a:srgbClr val="0B1F30"/>
          </a:solidFill>
          <a:ln w="254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256032" y="4123944"/>
            <a:ext cx="219456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256032" y="4251960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pruebas listas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880360" y="1435608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2953512" y="14721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611880" y="14721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105656" y="14721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953512" y="16459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Orden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53512" y="182880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escenarios nuevos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80360" y="2103120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2953512" y="21396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611880" y="21396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105656" y="213969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953512" y="231343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Fibra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953512" y="249631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Nokia, cross-vendor, error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880360" y="2770632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2953512" y="280720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3611880" y="28072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CBK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105656" y="28072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953512" y="29809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953512" y="316382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Entregas, reintentos, fallo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880360" y="3438144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2953512" y="34747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611880" y="34747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RBK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105656" y="347472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953512" y="36484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2953512" y="3831336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Revertir operaciones fallidas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880360" y="4105656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2953512" y="414223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611880" y="41422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105656" y="4142232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953512" y="43159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953512" y="4498848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duplicar operaciones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093208" y="1435608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5166360" y="14721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824728" y="14721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318504" y="1472184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casos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166360" y="164592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CLI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166360" y="182880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== BluePlanet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093208" y="2103120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ext 79"/>
          <p:cNvSpPr/>
          <p:nvPr/>
        </p:nvSpPr>
        <p:spPr>
          <a:xfrm>
            <a:off x="5166360" y="21396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5824728" y="21396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318504" y="2139696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casos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166360" y="231343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166360" y="249631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bloqueo, servicios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093208" y="2770632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Text 85"/>
          <p:cNvSpPr/>
          <p:nvPr/>
        </p:nvSpPr>
        <p:spPr>
          <a:xfrm>
            <a:off x="5166360" y="280720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824728" y="28072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6318504" y="28072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casos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166360" y="29809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166360" y="3163824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rate limit, auditoría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093208" y="3438144"/>
            <a:ext cx="2084832" cy="603504"/>
          </a:xfrm>
          <a:prstGeom prst="rect">
            <a:avLst/>
          </a:prstGeom>
          <a:solidFill>
            <a:srgbClr val="1A2E42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91"/>
          <p:cNvSpPr/>
          <p:nvPr/>
        </p:nvSpPr>
        <p:spPr>
          <a:xfrm>
            <a:off x="5166360" y="347472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5824728" y="347472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6318504" y="3474720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casos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166360" y="36484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5166360" y="3831336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Docker local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479792" y="1435608"/>
            <a:ext cx="1554480" cy="1243584"/>
          </a:xfrm>
          <a:prstGeom prst="rect">
            <a:avLst/>
          </a:prstGeom>
          <a:solidFill>
            <a:srgbClr val="111111"/>
          </a:solidFill>
          <a:ln w="635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Shape 97"/>
          <p:cNvSpPr/>
          <p:nvPr/>
        </p:nvSpPr>
        <p:spPr>
          <a:xfrm>
            <a:off x="7479792" y="1435608"/>
            <a:ext cx="1554480" cy="256032"/>
          </a:xfrm>
          <a:prstGeom prst="rect">
            <a:avLst/>
          </a:prstGeom>
          <a:solidFill>
            <a:srgbClr val="4B6070">
              <a:alpha val="20000"/>
            </a:srgbClr>
          </a:solidFill>
          <a:ln w="381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Text 98"/>
          <p:cNvSpPr/>
          <p:nvPr/>
        </p:nvSpPr>
        <p:spPr>
          <a:xfrm>
            <a:off x="7534656" y="14630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PER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534656" y="17465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34656" y="20208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534656" y="22219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/ servidor real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479792" y="2807208"/>
            <a:ext cx="1554480" cy="1243584"/>
          </a:xfrm>
          <a:prstGeom prst="rect">
            <a:avLst/>
          </a:prstGeom>
          <a:solidFill>
            <a:srgbClr val="111111"/>
          </a:solidFill>
          <a:ln w="635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Shape 103"/>
          <p:cNvSpPr/>
          <p:nvPr/>
        </p:nvSpPr>
        <p:spPr>
          <a:xfrm>
            <a:off x="7479792" y="2807208"/>
            <a:ext cx="1554480" cy="256032"/>
          </a:xfrm>
          <a:prstGeom prst="rect">
            <a:avLst/>
          </a:prstGeom>
          <a:solidFill>
            <a:srgbClr val="4B6070">
              <a:alpha val="20000"/>
            </a:srgbClr>
          </a:solidFill>
          <a:ln w="381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6" name="Text 104"/>
          <p:cNvSpPr/>
          <p:nvPr/>
        </p:nvSpPr>
        <p:spPr>
          <a:xfrm>
            <a:off x="7534656" y="283464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REG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534656" y="31181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E2E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534656" y="33924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casos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534656" y="35935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QA completo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82880" y="4864608"/>
            <a:ext cx="8851392" cy="237744"/>
          </a:xfrm>
          <a:prstGeom prst="rect">
            <a:avLst/>
          </a:prstGeom>
          <a:solidFill>
            <a:srgbClr val="070F18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Text 109"/>
          <p:cNvSpPr/>
          <p:nvPr/>
        </p:nvSpPr>
        <p:spPr>
          <a:xfrm>
            <a:off x="256032" y="4864608"/>
            <a:ext cx="8705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TOTAL: </a:t>
            </a:r>
            <a:r>
              <a:rPr lang="en-US" sz="8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escenarios 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YA LISTOS: </a:t>
            </a: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pruebas (32%) 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CON SIMULACIÓN: </a:t>
            </a:r>
            <a:r>
              <a:rPr lang="en-US" sz="8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 más  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  BLOQUEADOS: </a:t>
            </a:r>
            <a:r>
              <a:rPr lang="en-US" sz="850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(esperan ambiente QA)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824"/>
          </a:solidFill>
          <a:ln w="381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56032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viene ahora? — Cronograma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a semana · Primero todo lo que no depende de nadie · Al final lo que necesita entornos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05256"/>
            <a:ext cx="8631936" cy="0"/>
          </a:xfrm>
          <a:prstGeom prst="line">
            <a:avLst/>
          </a:prstGeom>
          <a:noFill/>
          <a:ln w="762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64592" y="1042416"/>
            <a:ext cx="8796528" cy="635508"/>
          </a:xfrm>
          <a:prstGeom prst="rect">
            <a:avLst/>
          </a:prstGeom>
          <a:solidFill>
            <a:srgbClr val="1A2E42"/>
          </a:solidFill>
          <a:ln w="762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164592" y="1042416"/>
            <a:ext cx="73152" cy="6355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417320" cy="548640"/>
          </a:xfrm>
          <a:prstGeom prst="rect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 Jun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10512" y="1115568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22C55E">
              <a:alpha val="18000"/>
            </a:srgbClr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810512" y="11155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 CURSO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10512" y="138074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Baja de Acceso (BAJ)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10512" y="151790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Consultas (QRY)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10512" y="165506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Cambio de Equipo (ONT)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58768" y="110642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58768" y="125272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errores de negocio de Baja + crear módulo Cancelación de Orden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88352" y="1078992"/>
            <a:ext cx="1536192" cy="548640"/>
          </a:xfrm>
          <a:prstGeom prst="rect">
            <a:avLst/>
          </a:prstGeom>
          <a:solidFill>
            <a:srgbClr val="0A1F10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443216" y="109728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443216" y="122529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simulaciones — sin dependencias externas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58768" y="10972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100" dirty="0"/>
          </a:p>
        </p:txBody>
      </p:sp>
      <p:sp>
        <p:nvSpPr>
          <p:cNvPr id="23" name="Shape 21"/>
          <p:cNvSpPr/>
          <p:nvPr/>
        </p:nvSpPr>
        <p:spPr>
          <a:xfrm>
            <a:off x="2926080" y="124358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15000"/>
            </a:srgbClr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2926080" y="1243584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tests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138988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41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4592" y="1714500"/>
            <a:ext cx="8796528" cy="635508"/>
          </a:xfrm>
          <a:prstGeom prst="rect">
            <a:avLst/>
          </a:prstGeom>
          <a:solidFill>
            <a:srgbClr val="152030"/>
          </a:solidFill>
          <a:ln w="762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164592" y="1714500"/>
            <a:ext cx="73152" cy="6355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74320" y="1769364"/>
            <a:ext cx="1417320" cy="548640"/>
          </a:xfrm>
          <a:prstGeom prst="rect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74320" y="17693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20436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– 17 Jun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10512" y="1787652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0EA5E9">
              <a:alpha val="18000"/>
            </a:srgbClr>
          </a:solidFill>
          <a:ln w="50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1810512" y="17876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10512" y="205282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Cambio de Fibra (FIB)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10512" y="218998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Cambio de Equipo errores (ONT+)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58768" y="177850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58768" y="192481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archivo de fibra (hoy vacío) + agregar caso de fallo asimétrico en swap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388352" y="1751076"/>
            <a:ext cx="1536192" cy="548640"/>
          </a:xfrm>
          <a:prstGeom prst="rect">
            <a:avLst/>
          </a:prstGeom>
          <a:solidFill>
            <a:srgbClr val="0A1F10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7443216" y="176936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43216" y="189738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simulaciones — sin dependencias externas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58768" y="17693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100" dirty="0"/>
          </a:p>
        </p:txBody>
      </p:sp>
      <p:sp>
        <p:nvSpPr>
          <p:cNvPr id="41" name="Shape 39"/>
          <p:cNvSpPr/>
          <p:nvPr/>
        </p:nvSpPr>
        <p:spPr>
          <a:xfrm>
            <a:off x="2926080" y="1915668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0EA5E9">
              <a:alpha val="15000"/>
            </a:srgbClr>
          </a:solidFill>
          <a:ln w="508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2926080" y="1915668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tests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26080" y="20619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45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4592" y="2386584"/>
            <a:ext cx="8796528" cy="635508"/>
          </a:xfrm>
          <a:prstGeom prst="rect">
            <a:avLst/>
          </a:prstGeom>
          <a:solidFill>
            <a:srgbClr val="1A2E42"/>
          </a:solidFill>
          <a:ln w="762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164592" y="2386584"/>
            <a:ext cx="73152" cy="6355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274320" y="2441448"/>
            <a:ext cx="1417320" cy="548640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274320" y="2441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2715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– 24 Jun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810512" y="2459736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8B5CF6">
              <a:alpha val="18000"/>
            </a:srgbClr>
          </a:solidFill>
          <a:ln w="50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1810512" y="24597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810512" y="27249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Callbacks (CBK)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810512" y="286207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Rollback automático (RBK)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858768" y="24505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858768" y="259689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entregas de notificaciones + probar reversión automática ante fallos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88352" y="2423160"/>
            <a:ext cx="1536192" cy="548640"/>
          </a:xfrm>
          <a:prstGeom prst="rect">
            <a:avLst/>
          </a:prstGeom>
          <a:solidFill>
            <a:srgbClr val="0A1F10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 54"/>
          <p:cNvSpPr/>
          <p:nvPr/>
        </p:nvSpPr>
        <p:spPr>
          <a:xfrm>
            <a:off x="7443216" y="2441448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443216" y="2569464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instalar librería 'respx' para simular llamadas HTTP salientes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858768" y="24414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" dirty="0"/>
          </a:p>
        </p:txBody>
      </p:sp>
      <p:sp>
        <p:nvSpPr>
          <p:cNvPr id="59" name="Shape 57"/>
          <p:cNvSpPr/>
          <p:nvPr/>
        </p:nvSpPr>
        <p:spPr>
          <a:xfrm>
            <a:off x="2926080" y="2587752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15000"/>
            </a:srgbClr>
          </a:solidFill>
          <a:ln w="50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8"/>
          <p:cNvSpPr/>
          <p:nvPr/>
        </p:nvSpPr>
        <p:spPr>
          <a:xfrm>
            <a:off x="2926080" y="2587752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tests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926080" y="2734056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54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64592" y="3058668"/>
            <a:ext cx="8796528" cy="635508"/>
          </a:xfrm>
          <a:prstGeom prst="rect">
            <a:avLst/>
          </a:prstGeom>
          <a:solidFill>
            <a:srgbClr val="152030"/>
          </a:solidFill>
          <a:ln w="762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Shape 61"/>
          <p:cNvSpPr/>
          <p:nvPr/>
        </p:nvSpPr>
        <p:spPr>
          <a:xfrm>
            <a:off x="164592" y="3058668"/>
            <a:ext cx="73152" cy="6355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4" name="Shape 62"/>
          <p:cNvSpPr/>
          <p:nvPr/>
        </p:nvSpPr>
        <p:spPr>
          <a:xfrm>
            <a:off x="274320" y="3113532"/>
            <a:ext cx="1417320" cy="548640"/>
          </a:xfrm>
          <a:prstGeom prst="rect">
            <a:avLst/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274320" y="31135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74320" y="33878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Jun – 1 Jul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810512" y="3131820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F59E0B">
              <a:alpha val="18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66"/>
          <p:cNvSpPr/>
          <p:nvPr/>
        </p:nvSpPr>
        <p:spPr>
          <a:xfrm>
            <a:off x="1810512" y="31318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810512" y="339699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Idempotencia (IDP)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810512" y="35341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Paridad con BluePlanet (PAR)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858768" y="312267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3858768" y="32689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no se dupliquen operaciones + comparar comandos generados vs sistema antiguo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88352" y="3095244"/>
            <a:ext cx="1536192" cy="548640"/>
          </a:xfrm>
          <a:prstGeom prst="rect">
            <a:avLst/>
          </a:prstGeom>
          <a:solidFill>
            <a:srgbClr val="0A1F10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4" name="Text 72"/>
          <p:cNvSpPr/>
          <p:nvPr/>
        </p:nvSpPr>
        <p:spPr>
          <a:xfrm>
            <a:off x="7443216" y="3113532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443216" y="324154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simulaciones — comparación a nivel de código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858768" y="31135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00" dirty="0"/>
          </a:p>
        </p:txBody>
      </p:sp>
      <p:sp>
        <p:nvSpPr>
          <p:cNvPr id="77" name="Shape 75"/>
          <p:cNvSpPr/>
          <p:nvPr/>
        </p:nvSpPr>
        <p:spPr>
          <a:xfrm>
            <a:off x="2926080" y="3259836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15000"/>
            </a:srgbClr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Text 76"/>
          <p:cNvSpPr/>
          <p:nvPr/>
        </p:nvSpPr>
        <p:spPr>
          <a:xfrm>
            <a:off x="2926080" y="325983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tests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926080" y="340614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64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64592" y="3730752"/>
            <a:ext cx="8796528" cy="635508"/>
          </a:xfrm>
          <a:prstGeom prst="rect">
            <a:avLst/>
          </a:prstGeom>
          <a:solidFill>
            <a:srgbClr val="1A2E42"/>
          </a:solidFill>
          <a:ln w="762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Shape 79"/>
          <p:cNvSpPr/>
          <p:nvPr/>
        </p:nvSpPr>
        <p:spPr>
          <a:xfrm>
            <a:off x="164592" y="3730752"/>
            <a:ext cx="73152" cy="635508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2" name="Shape 80"/>
          <p:cNvSpPr/>
          <p:nvPr/>
        </p:nvSpPr>
        <p:spPr>
          <a:xfrm>
            <a:off x="274320" y="3785616"/>
            <a:ext cx="1417320" cy="548640"/>
          </a:xfrm>
          <a:prstGeom prst="rect">
            <a:avLst/>
          </a:prstGeom>
          <a:solidFill>
            <a:srgbClr val="EC4899">
              <a:alpha val="15000"/>
            </a:srgbClr>
          </a:solidFill>
          <a:ln w="635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Text 81"/>
          <p:cNvSpPr/>
          <p:nvPr/>
        </p:nvSpPr>
        <p:spPr>
          <a:xfrm>
            <a:off x="274320" y="3785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74320" y="4059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8 Jul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810512" y="3803904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EC4899">
              <a:alpha val="18000"/>
            </a:srgbClr>
          </a:solidFill>
          <a:ln w="508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6" name="Text 84"/>
          <p:cNvSpPr/>
          <p:nvPr/>
        </p:nvSpPr>
        <p:spPr>
          <a:xfrm>
            <a:off x="1810512" y="380390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810512" y="406908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Modificación (MOD)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810512" y="42062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Seguridad (SEC)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810512" y="43434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Base de Datos (DB)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3858768" y="379476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3858768" y="39410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Velocidad, bloqueo, JWT manipulado, auditoría + validación de base de datos local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88352" y="3767328"/>
            <a:ext cx="1536192" cy="548640"/>
          </a:xfrm>
          <a:prstGeom prst="rect">
            <a:avLst/>
          </a:prstGeom>
          <a:solidFill>
            <a:srgbClr val="0A1F10"/>
          </a:solidFill>
          <a:ln w="50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91"/>
          <p:cNvSpPr/>
          <p:nvPr/>
        </p:nvSpPr>
        <p:spPr>
          <a:xfrm>
            <a:off x="7443216" y="378561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443216" y="3913632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requiere Docker Desktop instalado localmente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3858768" y="37856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</a:t>
            </a:r>
            <a:endParaRPr lang="en-US" sz="100" dirty="0"/>
          </a:p>
        </p:txBody>
      </p:sp>
      <p:sp>
        <p:nvSpPr>
          <p:cNvPr id="96" name="Shape 94"/>
          <p:cNvSpPr/>
          <p:nvPr/>
        </p:nvSpPr>
        <p:spPr>
          <a:xfrm>
            <a:off x="2926080" y="3931920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EC4899">
              <a:alpha val="15000"/>
            </a:srgbClr>
          </a:solidFill>
          <a:ln w="508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Text 95"/>
          <p:cNvSpPr/>
          <p:nvPr/>
        </p:nvSpPr>
        <p:spPr>
          <a:xfrm>
            <a:off x="2926080" y="3931920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tests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926080" y="4078224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97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164592" y="4402836"/>
            <a:ext cx="8796528" cy="635508"/>
          </a:xfrm>
          <a:prstGeom prst="rect">
            <a:avLst/>
          </a:prstGeom>
          <a:solidFill>
            <a:srgbClr val="0D0D0D"/>
          </a:solidFill>
          <a:ln w="508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0" name="Shape 98"/>
          <p:cNvSpPr/>
          <p:nvPr/>
        </p:nvSpPr>
        <p:spPr>
          <a:xfrm>
            <a:off x="164592" y="4402836"/>
            <a:ext cx="73152" cy="635508"/>
          </a:xfrm>
          <a:prstGeom prst="rect">
            <a:avLst/>
          </a:prstGeom>
          <a:solidFill>
            <a:srgbClr val="4B607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1" name="Shape 99"/>
          <p:cNvSpPr/>
          <p:nvPr/>
        </p:nvSpPr>
        <p:spPr>
          <a:xfrm>
            <a:off x="274320" y="4457700"/>
            <a:ext cx="1417320" cy="548640"/>
          </a:xfrm>
          <a:prstGeom prst="rect">
            <a:avLst/>
          </a:prstGeom>
          <a:solidFill>
            <a:srgbClr val="4B6070">
              <a:alpha val="15000"/>
            </a:srgbClr>
          </a:solidFill>
          <a:ln w="635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2" name="Text 100"/>
          <p:cNvSpPr/>
          <p:nvPr/>
        </p:nvSpPr>
        <p:spPr>
          <a:xfrm>
            <a:off x="274320" y="44577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QA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274320" y="47320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acceso a ambientes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810512" y="4475988"/>
            <a:ext cx="1078992" cy="219456"/>
          </a:xfrm>
          <a:prstGeom prst="roundRect">
            <a:avLst>
              <a:gd name="adj" fmla="val 20833"/>
            </a:avLst>
          </a:prstGeom>
          <a:solidFill>
            <a:srgbClr val="4B6070">
              <a:alpha val="18000"/>
            </a:srgbClr>
          </a:solidFill>
          <a:ln w="508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Text 103"/>
          <p:cNvSpPr/>
          <p:nvPr/>
        </p:nvSpPr>
        <p:spPr>
          <a:xfrm>
            <a:off x="1810512" y="447598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BLOQUEADO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1810512" y="474116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Rendimiento bajo carga (PER)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810512" y="487832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Regresión completa E2E (REG)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3858768" y="4466844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hacer: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3858768" y="46131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velocidad real con k6 + verificación en equipos de red reales + E2E completo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388352" y="4439412"/>
            <a:ext cx="1536192" cy="548640"/>
          </a:xfrm>
          <a:prstGeom prst="rect">
            <a:avLst/>
          </a:prstGeom>
          <a:solidFill>
            <a:srgbClr val="1A0808"/>
          </a:solidFill>
          <a:ln w="50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Text 109"/>
          <p:cNvSpPr/>
          <p:nvPr/>
        </p:nvSpPr>
        <p:spPr>
          <a:xfrm>
            <a:off x="7443216" y="445770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Requiere: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443216" y="4585716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Necesita: servidor Komands activo · OLT Nokia/Huawei lab · Ambiente QA · ServiceNow real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3858768" y="44577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</a:t>
            </a:r>
            <a:endParaRPr lang="en-US" sz="100" dirty="0"/>
          </a:p>
        </p:txBody>
      </p:sp>
      <p:sp>
        <p:nvSpPr>
          <p:cNvPr id="114" name="Shape 112"/>
          <p:cNvSpPr/>
          <p:nvPr/>
        </p:nvSpPr>
        <p:spPr>
          <a:xfrm>
            <a:off x="2926080" y="4604004"/>
            <a:ext cx="749808" cy="274320"/>
          </a:xfrm>
          <a:prstGeom prst="roundRect">
            <a:avLst>
              <a:gd name="adj" fmla="val 16667"/>
            </a:avLst>
          </a:prstGeom>
          <a:solidFill>
            <a:srgbClr val="4B6070">
              <a:alpha val="15000"/>
            </a:srgbClr>
          </a:solidFill>
          <a:ln w="5080">
            <a:solidFill>
              <a:srgbClr val="4B60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5" name="Text 113"/>
          <p:cNvSpPr/>
          <p:nvPr/>
        </p:nvSpPr>
        <p:spPr>
          <a:xfrm>
            <a:off x="2926080" y="4604004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tests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2926080" y="4750308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131+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ECDFA3DF2FB446B369BB54E6933FA7" ma:contentTypeVersion="5" ma:contentTypeDescription="Crear nuevo documento." ma:contentTypeScope="" ma:versionID="d0e3d84c691a6f2934764e414f446657">
  <xsd:schema xmlns:xsd="http://www.w3.org/2001/XMLSchema" xmlns:xs="http://www.w3.org/2001/XMLSchema" xmlns:p="http://schemas.microsoft.com/office/2006/metadata/properties" xmlns:ns3="21108759-9a78-4185-8766-87521b137e6e" targetNamespace="http://schemas.microsoft.com/office/2006/metadata/properties" ma:root="true" ma:fieldsID="920b0f074326e289ce602f9f59c6df58" ns3:_="">
    <xsd:import namespace="21108759-9a78-4185-8766-87521b137e6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108759-9a78-4185-8766-87521b137e6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1108759-9a78-4185-8766-87521b137e6e" xsi:nil="true"/>
  </documentManagement>
</p:properties>
</file>

<file path=customXml/itemProps1.xml><?xml version="1.0" encoding="utf-8"?>
<ds:datastoreItem xmlns:ds="http://schemas.openxmlformats.org/officeDocument/2006/customXml" ds:itemID="{0D97242B-DC41-4C7C-BC4B-3ACE5DA4F8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108759-9a78-4185-8766-87521b137e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9B4C49-9454-4F3D-9529-9A58672A26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D87FB2-0243-431D-AA29-CDBC6074E69C}">
  <ds:schemaRefs>
    <ds:schemaRef ds:uri="http://schemas.microsoft.com/office/2006/metadata/properties"/>
    <ds:schemaRef ds:uri="http://schemas.microsoft.com/office/infopath/2007/PartnerControls"/>
    <ds:schemaRef ds:uri="21108759-9a78-4185-8766-87521b137e6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1036</Words>
  <Application>Microsoft Office PowerPoint</Application>
  <PresentationFormat>Presentación en pantalla (16:9)</PresentationFormat>
  <Paragraphs>207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Alfonso Domingo Oneto López</cp:lastModifiedBy>
  <cp:revision>2</cp:revision>
  <dcterms:created xsi:type="dcterms:W3CDTF">2026-06-04T17:53:58Z</dcterms:created>
  <dcterms:modified xsi:type="dcterms:W3CDTF">2026-06-11T04:16:43Z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0x01010023ECDFA3DF2FB446B369BB54E6933FA7</vt:lpwstr>
  </property>
</Properties>
</file>